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95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796100"/>
            <a:ext cx="9144000" cy="502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of CO-OP Project at Industry (Module-2) (22CS421)</a:t>
            </a:r>
          </a:p>
          <a:p>
            <a:pPr marL="0" indent="0" algn="ctr">
              <a:buNone/>
            </a:pPr>
            <a:r>
              <a:rPr lang="en-GB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1155571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Learning-Based Framework for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 Software in Electric Vehicles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2219704"/>
            <a:ext cx="6400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Llywellyn Sana Thaoroijam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2210991854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Simarjit Kaur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3695317"/>
            <a:ext cx="548640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75361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University, Punjab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025652"/>
            <a:ext cx="411480" cy="411480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256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9525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802892"/>
            <a:ext cx="411480" cy="411480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8028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17297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2580132"/>
            <a:ext cx="411480" cy="411480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5801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5069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3357372"/>
            <a:ext cx="411480" cy="411480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3573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32842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846320" y="1025652"/>
            <a:ext cx="411480" cy="411480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10256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49240" y="9525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846320" y="1802892"/>
            <a:ext cx="411480" cy="411480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8028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49240" y="17297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846320" y="2580132"/>
            <a:ext cx="411480" cy="411480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25801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349240" y="25069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500" dirty="0"/>
          </a:p>
        </p:txBody>
      </p:sp>
      <p:pic>
        <p:nvPicPr>
          <p:cNvPr id="28" name="Image 0">
            <a:extLst>
              <a:ext uri="{FF2B5EF4-FFF2-40B4-BE49-F238E27FC236}">
                <a16:creationId xmlns:a16="http://schemas.microsoft.com/office/drawing/2014/main" id="{9EABF8C4-5E0B-81F5-0A0D-65C6248B6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one of the most impactful AI applications in modern transportation. </a:t>
            </a:r>
            <a:endParaRPr lang="en-US" sz="1350" dirty="0"/>
          </a:p>
          <a:p>
            <a:pPr marL="0" indent="0" algn="just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need intelligent systems for safe, efficient, and autonomous navigation — especially in unstructured environments like Indian roads.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74320" y="2057400"/>
            <a:ext cx="2788920" cy="137160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057400"/>
            <a:ext cx="2788920" cy="347472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057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450592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detection, lane detection, traffic signal recognition using CV &amp; deep learning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46120" y="2057400"/>
            <a:ext cx="2788920" cy="137160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057400"/>
            <a:ext cx="2788920" cy="347472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6120" y="2057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2450592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perceived data to determine the optimal driving path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2057400"/>
            <a:ext cx="2788920" cy="137160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2057400"/>
            <a:ext cx="2788920" cy="347472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2057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2450592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driving decisions via steering, acceleration, and braking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65760" y="3611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Canny Edge Detection + Polynomial Curve Fitting + Flask Web Interface — unified into a real-time autonomous driving framework for EVs.</a:t>
            </a:r>
            <a:endParaRPr lang="en-US" sz="1250" dirty="0"/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3D26ADF1-5B45-D4DF-6C74-F2661A807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8839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883920"/>
            <a:ext cx="91440" cy="1463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9570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Road Conditions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28625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Faded/missing lanes, mixed traffic (vehicles, pedestrians, animals), frequent traffic rule violations — common in India.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8839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883920"/>
            <a:ext cx="91440" cy="1463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9570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Perception Modules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128625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degrades under poor lighting, occlusion, and weather. Lane detection fails without clear markings.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74320" y="24841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484120"/>
            <a:ext cx="91440" cy="1463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5572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Module Integration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288645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treat detection, lane tracking, and path planning as isolated tasks — causing latency and coordination failures.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54880" y="24841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484120"/>
            <a:ext cx="91440" cy="1463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25572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Visualization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288645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 is simulation-only with no user-facing interface for live testing and evaluation.</a:t>
            </a:r>
            <a:endParaRPr lang="en-US" sz="1150" dirty="0"/>
          </a:p>
        </p:txBody>
      </p:sp>
      <p:pic>
        <p:nvPicPr>
          <p:cNvPr id="23" name="Image 0">
            <a:extLst>
              <a:ext uri="{FF2B5EF4-FFF2-40B4-BE49-F238E27FC236}">
                <a16:creationId xmlns:a16="http://schemas.microsoft.com/office/drawing/2014/main" id="{EF480059-4AE0-0F41-A9F8-6AEFADD47F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4008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51560" y="731520"/>
            <a:ext cx="0" cy="68580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640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520440" y="64008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YOLOv8 to detect vehicles, pedestrians, and traffic signals accurately under varied conditions.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74320" y="160020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60020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051560" y="1691640"/>
            <a:ext cx="0" cy="68580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16002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Lane Detection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520440" y="160020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Canny edge detection, ROI masking, and polynomial curve fitting to identify lane boundaries reliably.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74320" y="2560320"/>
            <a:ext cx="859536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56032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1051560" y="2651760"/>
            <a:ext cx="0" cy="68580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5603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Path Planning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520440" y="256032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safe central driving path between detected lanes for navigation decision-making.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74320" y="352044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52044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051560" y="3611880"/>
            <a:ext cx="0" cy="68580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&amp; Deployment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520440" y="3520440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all modules into a modular Flask-based web interface for real-time video processing and visualization.</a:t>
            </a:r>
            <a:endParaRPr lang="en-US" sz="1150" dirty="0"/>
          </a:p>
        </p:txBody>
      </p:sp>
      <p:pic>
        <p:nvPicPr>
          <p:cNvPr id="27" name="Image 0">
            <a:extLst>
              <a:ext uri="{FF2B5EF4-FFF2-40B4-BE49-F238E27FC236}">
                <a16:creationId xmlns:a16="http://schemas.microsoft.com/office/drawing/2014/main" id="{072A63D7-BB1B-25A8-B476-883BB21F7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51D8FCD-5D92-3E55-0908-3820170ABDC3}"/>
              </a:ext>
            </a:extLst>
          </p:cNvPr>
          <p:cNvGrpSpPr/>
          <p:nvPr/>
        </p:nvGrpSpPr>
        <p:grpSpPr>
          <a:xfrm>
            <a:off x="164592" y="1337310"/>
            <a:ext cx="8814816" cy="1234440"/>
            <a:chOff x="182880" y="777240"/>
            <a:chExt cx="8814816" cy="1234440"/>
          </a:xfrm>
        </p:grpSpPr>
        <p:sp>
          <p:nvSpPr>
            <p:cNvPr id="7" name="Shape 4"/>
            <p:cNvSpPr/>
            <p:nvPr/>
          </p:nvSpPr>
          <p:spPr>
            <a:xfrm>
              <a:off x="182880" y="777240"/>
              <a:ext cx="1572768" cy="1234440"/>
            </a:xfrm>
            <a:prstGeom prst="rect">
              <a:avLst/>
            </a:prstGeom>
            <a:solidFill>
              <a:srgbClr val="C0202A"/>
            </a:solidFill>
            <a:ln w="12700">
              <a:solidFill>
                <a:srgbClr val="C0202A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8" name="Text 5"/>
            <p:cNvSpPr/>
            <p:nvPr/>
          </p:nvSpPr>
          <p:spPr>
            <a:xfrm>
              <a:off x="182880" y="77724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 Preprocessing</a:t>
              </a:r>
              <a:endParaRPr lang="en-US" sz="10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228600" y="1216152"/>
              <a:ext cx="1481328" cy="75895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BDD100K subset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Resizing, normalization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augmentation</a:t>
              </a:r>
              <a:endParaRPr lang="en-US" sz="9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1773936" y="1394460"/>
              <a:ext cx="201168" cy="0"/>
            </a:xfrm>
            <a:prstGeom prst="line">
              <a:avLst/>
            </a:prstGeom>
            <a:noFill/>
            <a:ln w="19050">
              <a:solidFill>
                <a:srgbClr val="888888"/>
              </a:solidFill>
              <a:prstDash val="solid"/>
            </a:ln>
          </p:spPr>
        </p:sp>
        <p:sp>
          <p:nvSpPr>
            <p:cNvPr id="11" name="Shape 8"/>
            <p:cNvSpPr/>
            <p:nvPr/>
          </p:nvSpPr>
          <p:spPr>
            <a:xfrm>
              <a:off x="1993392" y="777240"/>
              <a:ext cx="1572768" cy="1234440"/>
            </a:xfrm>
            <a:prstGeom prst="rect">
              <a:avLst/>
            </a:prstGeom>
            <a:solidFill>
              <a:srgbClr val="1A3A5C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2" name="Text 9"/>
            <p:cNvSpPr/>
            <p:nvPr/>
          </p:nvSpPr>
          <p:spPr>
            <a:xfrm>
              <a:off x="1993392" y="77724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Architecture</a:t>
              </a:r>
              <a:endParaRPr lang="en-US" sz="10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2039112" y="1216152"/>
              <a:ext cx="1481328" cy="75895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 CNN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 + Pooling layers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YOLOv8 integration</a:t>
              </a:r>
              <a:endParaRPr lang="en-US" sz="95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3584448" y="1394460"/>
              <a:ext cx="201168" cy="0"/>
            </a:xfrm>
            <a:prstGeom prst="line">
              <a:avLst/>
            </a:prstGeom>
            <a:noFill/>
            <a:ln w="19050">
              <a:solidFill>
                <a:srgbClr val="888888"/>
              </a:solidFill>
              <a:prstDash val="solid"/>
            </a:ln>
          </p:spPr>
        </p:sp>
        <p:sp>
          <p:nvSpPr>
            <p:cNvPr id="15" name="Shape 12"/>
            <p:cNvSpPr/>
            <p:nvPr/>
          </p:nvSpPr>
          <p:spPr>
            <a:xfrm>
              <a:off x="3803904" y="777240"/>
              <a:ext cx="1572768" cy="1234440"/>
            </a:xfrm>
            <a:prstGeom prst="rect">
              <a:avLst/>
            </a:prstGeom>
            <a:solidFill>
              <a:srgbClr val="1A3A5C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6" name="Text 13"/>
            <p:cNvSpPr/>
            <p:nvPr/>
          </p:nvSpPr>
          <p:spPr>
            <a:xfrm>
              <a:off x="3803904" y="77724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Lane Detection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</a:t>
              </a:r>
              <a:endParaRPr lang="en-US" sz="105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3849624" y="1216152"/>
              <a:ext cx="1481328" cy="75895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Grayscale + Gaussian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Canny edges + ROI mask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Polynomial curve fit</a:t>
              </a:r>
              <a:endParaRPr lang="en-US" sz="95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5394960" y="1394460"/>
              <a:ext cx="201168" cy="0"/>
            </a:xfrm>
            <a:prstGeom prst="line">
              <a:avLst/>
            </a:prstGeom>
            <a:noFill/>
            <a:ln w="19050">
              <a:solidFill>
                <a:srgbClr val="888888"/>
              </a:solidFill>
              <a:prstDash val="solid"/>
            </a:ln>
          </p:spPr>
        </p:sp>
        <p:sp>
          <p:nvSpPr>
            <p:cNvPr id="19" name="Shape 16"/>
            <p:cNvSpPr/>
            <p:nvPr/>
          </p:nvSpPr>
          <p:spPr>
            <a:xfrm>
              <a:off x="5614416" y="777240"/>
              <a:ext cx="1572768" cy="1234440"/>
            </a:xfrm>
            <a:prstGeom prst="rect">
              <a:avLst/>
            </a:prstGeom>
            <a:solidFill>
              <a:srgbClr val="1A3A5C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614416" y="77724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Strategy</a:t>
              </a:r>
              <a:endParaRPr lang="en-US" sz="105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660136" y="1216152"/>
              <a:ext cx="1481328" cy="75895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 acceleration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Batch processing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Acc/loss monitoring</a:t>
              </a:r>
              <a:endParaRPr lang="en-US" sz="95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7205472" y="1394460"/>
              <a:ext cx="201168" cy="0"/>
            </a:xfrm>
            <a:prstGeom prst="line">
              <a:avLst/>
            </a:prstGeom>
            <a:noFill/>
            <a:ln w="19050">
              <a:solidFill>
                <a:srgbClr val="888888"/>
              </a:solidFill>
              <a:prstDash val="solid"/>
            </a:ln>
          </p:spPr>
        </p:sp>
        <p:sp>
          <p:nvSpPr>
            <p:cNvPr id="23" name="Shape 20"/>
            <p:cNvSpPr/>
            <p:nvPr/>
          </p:nvSpPr>
          <p:spPr>
            <a:xfrm>
              <a:off x="7424928" y="777240"/>
              <a:ext cx="1572768" cy="1234440"/>
            </a:xfrm>
            <a:prstGeom prst="rect">
              <a:avLst/>
            </a:prstGeom>
            <a:solidFill>
              <a:srgbClr val="C0202A"/>
            </a:solidFill>
            <a:ln w="12700">
              <a:solidFill>
                <a:srgbClr val="C0202A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7424928" y="77724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Deployment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 Evaluation</a:t>
              </a:r>
              <a:endParaRPr lang="en-US" sz="105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7470648" y="1216152"/>
              <a:ext cx="1481328" cy="75895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 web interface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+ live stream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E8E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35-55 FPS on GPU</a:t>
              </a:r>
              <a:endParaRPr lang="en-US" sz="95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1196F90-5F1C-CE95-BEC6-4D5581474DD3}"/>
              </a:ext>
            </a:extLst>
          </p:cNvPr>
          <p:cNvGrpSpPr/>
          <p:nvPr/>
        </p:nvGrpSpPr>
        <p:grpSpPr>
          <a:xfrm>
            <a:off x="274320" y="3063240"/>
            <a:ext cx="8595360" cy="685800"/>
            <a:chOff x="274320" y="2240280"/>
            <a:chExt cx="8595360" cy="685800"/>
          </a:xfrm>
        </p:grpSpPr>
        <p:sp>
          <p:nvSpPr>
            <p:cNvPr id="26" name="Shape 23"/>
            <p:cNvSpPr/>
            <p:nvPr/>
          </p:nvSpPr>
          <p:spPr>
            <a:xfrm>
              <a:off x="274320" y="2240280"/>
              <a:ext cx="8595360" cy="685800"/>
            </a:xfrm>
            <a:prstGeom prst="rect">
              <a:avLst/>
            </a:prstGeom>
            <a:solidFill>
              <a:srgbClr val="FFF3F3"/>
            </a:solidFill>
            <a:ln w="12700">
              <a:solidFill>
                <a:srgbClr val="FFCCD2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365760" y="2240280"/>
              <a:ext cx="84124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C020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Explainability Techniques: Feature Map Visualization  |  Saliency Maps  |  Grad-CAM Heatmaps</a:t>
              </a:r>
              <a:endParaRPr lang="en-US" sz="1200" dirty="0"/>
            </a:p>
          </p:txBody>
        </p:sp>
      </p:grpSp>
      <p:pic>
        <p:nvPicPr>
          <p:cNvPr id="28" name="Image 0">
            <a:extLst>
              <a:ext uri="{FF2B5EF4-FFF2-40B4-BE49-F238E27FC236}">
                <a16:creationId xmlns:a16="http://schemas.microsoft.com/office/drawing/2014/main" id="{E8677F8B-9D31-92DD-8F77-8B62A43E4C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640080"/>
            <a:ext cx="42062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640080"/>
            <a:ext cx="4206240" cy="320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40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9875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640080"/>
            <a:ext cx="42062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640080"/>
            <a:ext cx="4206240" cy="320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640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9875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TensorFlow · Ultralytics YOLOv8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1737360"/>
            <a:ext cx="42062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1737360"/>
            <a:ext cx="4206240" cy="320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20848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edge detection, ROI masking, curve fitting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1737360"/>
            <a:ext cx="42062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737360"/>
            <a:ext cx="4206240" cy="320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20848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— real-time video stream interface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2834640"/>
            <a:ext cx="42062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2834640"/>
            <a:ext cx="4206240" cy="320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2834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1480" y="31821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BDD100K — 100K diverse driving scenes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2834640"/>
            <a:ext cx="42062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2834640"/>
            <a:ext cx="4206240" cy="32004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2834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92040" y="31821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— 35-55 FPS inference speed</a:t>
            </a:r>
            <a:endParaRPr lang="en-US" sz="1200" dirty="0"/>
          </a:p>
        </p:txBody>
      </p:sp>
      <p:pic>
        <p:nvPicPr>
          <p:cNvPr id="31" name="Image 0">
            <a:extLst>
              <a:ext uri="{FF2B5EF4-FFF2-40B4-BE49-F238E27FC236}">
                <a16:creationId xmlns:a16="http://schemas.microsoft.com/office/drawing/2014/main" id="{C370D683-9A4A-4054-019B-C72E1EB025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 — Training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640080"/>
            <a:ext cx="4251960" cy="2971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 4"/>
          <p:cNvSpPr/>
          <p:nvPr/>
        </p:nvSpPr>
        <p:spPr>
          <a:xfrm>
            <a:off x="228600" y="36576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1: Training batch with bounding box annotations</a:t>
            </a:r>
            <a:endParaRPr lang="en-US" sz="950" dirty="0"/>
          </a:p>
        </p:txBody>
      </p:sp>
      <p:pic>
        <p:nvPicPr>
          <p:cNvPr id="9" name="Imag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640080"/>
            <a:ext cx="4251960" cy="2971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 5"/>
          <p:cNvSpPr/>
          <p:nvPr/>
        </p:nvSpPr>
        <p:spPr>
          <a:xfrm>
            <a:off x="4663440" y="36576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2: Dataset label distribution and bounding box statistics</a:t>
            </a:r>
            <a:endParaRPr lang="en-US" sz="950" dirty="0"/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C70B0430-27A2-A569-A031-BA9E4E8ACB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 — Training Performance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640080"/>
            <a:ext cx="7543800" cy="2834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3520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3: Training &amp; validation loss curves, precision, recall, mAP50 and mAP50-95 over 5 epochs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31520" y="3840480"/>
            <a:ext cx="1645920" cy="45720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mAP50: 0.35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697480" y="3840480"/>
            <a:ext cx="1645920" cy="45720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69748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0.60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3840480"/>
            <a:ext cx="1645920" cy="45720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6344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0.32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629400" y="3840480"/>
            <a:ext cx="1645920" cy="45720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2940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35-55</a:t>
            </a:r>
            <a:endParaRPr lang="en-US" sz="1200" dirty="0"/>
          </a:p>
        </p:txBody>
      </p:sp>
      <p:pic>
        <p:nvPicPr>
          <p:cNvPr id="17" name="Image 0">
            <a:extLst>
              <a:ext uri="{FF2B5EF4-FFF2-40B4-BE49-F238E27FC236}">
                <a16:creationId xmlns:a16="http://schemas.microsoft.com/office/drawing/2014/main" id="{C544DADF-9FEA-6B76-4001-FA38E30A36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 — Detection Performance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645795"/>
            <a:ext cx="4251960" cy="31889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 4"/>
          <p:cNvSpPr/>
          <p:nvPr/>
        </p:nvSpPr>
        <p:spPr>
          <a:xfrm>
            <a:off x="228600" y="3886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4: Normalized confusion matrix</a:t>
            </a:r>
            <a:endParaRPr lang="en-US" sz="950" dirty="0"/>
          </a:p>
        </p:txBody>
      </p:sp>
      <p:pic>
        <p:nvPicPr>
          <p:cNvPr id="9" name="Imag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986838"/>
            <a:ext cx="4251960" cy="25068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 5"/>
          <p:cNvSpPr/>
          <p:nvPr/>
        </p:nvSpPr>
        <p:spPr>
          <a:xfrm>
            <a:off x="4663440" y="3886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5: Validation batch predictions with labelled detections</a:t>
            </a:r>
            <a:endParaRPr lang="en-US" sz="950" dirty="0"/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678F9C19-F609-9F47-4111-FDB8282678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5089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640080"/>
            <a:ext cx="4160520" cy="347472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6400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1051560"/>
            <a:ext cx="40690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detects vehicles, pedestrians &amp; signals in real-time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 with Canny + polynomial curve fitting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centre path generation for safe navigation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 FPS on GPU — suitable for real-time deployment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interface for live video stream interaction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&amp; saliency maps for model interpretability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640080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6400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00600" y="1051560"/>
            <a:ext cx="40690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 for precise scene understanding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— LiDAR, radar &amp; GPS integration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for adaptive decision-making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optimization for embedded deployment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dataset with region-specific driving conditions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98848" y="640080"/>
            <a:ext cx="0" cy="33375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703114AF-A8F8-3DCD-7A2C-D5D82C146F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0" y="25603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Llywellyn Sana Thaoroijam  |  2210991854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Simarjit Kaur, Associate Professor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 Chitkara University</a:t>
            </a:r>
            <a:endParaRPr lang="en-US" sz="1200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CA4D31ED-8ADE-4892-1086-B5116C0750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13682" y="36576"/>
            <a:ext cx="1294676" cy="429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 0">
            <a:extLst>
              <a:ext uri="{FF2B5EF4-FFF2-40B4-BE49-F238E27FC236}">
                <a16:creationId xmlns:a16="http://schemas.microsoft.com/office/drawing/2014/main" id="{EC147494-D94D-8DAA-87A5-2015B0EA0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51687" y="3826399"/>
            <a:ext cx="2040625" cy="6773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694</Words>
  <Application>Microsoft Office PowerPoint</Application>
  <PresentationFormat>On-screen Show (16:9)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Deep Learning-Based Framework for Autonomous Driving Software in Electric Vehicles</dc:title>
  <dc:subject>PptxGenJS Presentation</dc:subject>
  <dc:creator>Llywellyn Sana Thaoroijam</dc:creator>
  <cp:lastModifiedBy>Llywellyn Sana Thaoroijam</cp:lastModifiedBy>
  <cp:revision>2</cp:revision>
  <dcterms:created xsi:type="dcterms:W3CDTF">2026-05-09T05:14:38Z</dcterms:created>
  <dcterms:modified xsi:type="dcterms:W3CDTF">2026-05-09T05:30:55Z</dcterms:modified>
</cp:coreProperties>
</file>